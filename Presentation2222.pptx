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7" r:id="rId2"/>
    <p:sldId id="265" r:id="rId3"/>
    <p:sldId id="256" r:id="rId4"/>
    <p:sldId id="264" r:id="rId5"/>
    <p:sldId id="266" r:id="rId6"/>
    <p:sldId id="269" r:id="rId7"/>
    <p:sldId id="263" r:id="rId8"/>
    <p:sldId id="258" r:id="rId9"/>
    <p:sldId id="268" r:id="rId10"/>
    <p:sldId id="259" r:id="rId11"/>
    <p:sldId id="260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ang" initials="M" lastIdx="2" clrIdx="0">
    <p:extLst>
      <p:ext uri="{19B8F6BF-5375-455C-9EA6-DF929625EA0E}">
        <p15:presenceInfo xmlns:p15="http://schemas.microsoft.com/office/powerpoint/2012/main" userId="a329d70e1fe262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4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87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6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5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96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0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09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6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3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59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7569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21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1456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44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72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61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163F2-11E5-4F71-888E-CD901B75B838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C06A127-A282-4408-B3CD-634EC629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0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CC31EF-A232-4397-A05F-29A0F500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060" y="1280159"/>
            <a:ext cx="10515600" cy="4183381"/>
          </a:xfrm>
        </p:spPr>
        <p:txBody>
          <a:bodyPr>
            <a:normAutofit/>
          </a:bodyPr>
          <a:lstStyle/>
          <a:p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    </a:t>
            </a:r>
            <a:endParaRPr lang="en-US" sz="9600" dirty="0">
              <a:solidFill>
                <a:srgbClr val="00B050"/>
              </a:solidFill>
            </a:endParaRPr>
          </a:p>
        </p:txBody>
      </p:sp>
      <p:sp>
        <p:nvSpPr>
          <p:cNvPr id="3" name="Sun 2">
            <a:extLst>
              <a:ext uri="{FF2B5EF4-FFF2-40B4-BE49-F238E27FC236}">
                <a16:creationId xmlns:a16="http://schemas.microsoft.com/office/drawing/2014/main" id="{E864B1B5-D58E-4BBF-915C-1E84483F101C}"/>
              </a:ext>
            </a:extLst>
          </p:cNvPr>
          <p:cNvSpPr/>
          <p:nvPr/>
        </p:nvSpPr>
        <p:spPr>
          <a:xfrm>
            <a:off x="330200" y="203200"/>
            <a:ext cx="9550400" cy="6476999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HTML TAGS</a:t>
            </a:r>
          </a:p>
        </p:txBody>
      </p:sp>
    </p:spTree>
    <p:extLst>
      <p:ext uri="{BB962C8B-B14F-4D97-AF65-F5344CB8AC3E}">
        <p14:creationId xmlns:p14="http://schemas.microsoft.com/office/powerpoint/2010/main" val="4061075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589C191A-7792-41D3-A348-272DA50A418B}"/>
              </a:ext>
            </a:extLst>
          </p:cNvPr>
          <p:cNvSpPr/>
          <p:nvPr/>
        </p:nvSpPr>
        <p:spPr>
          <a:xfrm>
            <a:off x="800100" y="2160589"/>
            <a:ext cx="8089900" cy="4110962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HTML ( </a:t>
            </a:r>
            <a:r>
              <a:rPr lang="en-US" sz="4800" i="1" dirty="0"/>
              <a:t>Hyper Text Markup Language </a:t>
            </a:r>
            <a:r>
              <a:rPr lang="en-US" sz="4800" dirty="0"/>
              <a:t>) is a standard language for creating web . It uses tags to introduce content.</a:t>
            </a:r>
          </a:p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0FD1AEB-BA67-4C90-9910-D537C3FF67CF}"/>
              </a:ext>
            </a:extLst>
          </p:cNvPr>
          <p:cNvSpPr/>
          <p:nvPr/>
        </p:nvSpPr>
        <p:spPr>
          <a:xfrm>
            <a:off x="800100" y="101600"/>
            <a:ext cx="3746499" cy="165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/>
              <a:t>Introduction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550130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3FE5221A-8E68-4B32-B921-DEC26C87DDC3}"/>
              </a:ext>
            </a:extLst>
          </p:cNvPr>
          <p:cNvSpPr/>
          <p:nvPr/>
        </p:nvSpPr>
        <p:spPr>
          <a:xfrm>
            <a:off x="5280660" y="2011680"/>
            <a:ext cx="45719" cy="45719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432B1747-5502-4A0B-8CC3-73CEB69E2FE9}"/>
              </a:ext>
            </a:extLst>
          </p:cNvPr>
          <p:cNvSpPr/>
          <p:nvPr/>
        </p:nvSpPr>
        <p:spPr>
          <a:xfrm>
            <a:off x="10104120" y="6400800"/>
            <a:ext cx="45719" cy="45719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llout: Down Arrow 6">
            <a:extLst>
              <a:ext uri="{FF2B5EF4-FFF2-40B4-BE49-F238E27FC236}">
                <a16:creationId xmlns:a16="http://schemas.microsoft.com/office/drawing/2014/main" id="{85DB1F5F-78F2-4832-9ACB-0D6105914E54}"/>
              </a:ext>
            </a:extLst>
          </p:cNvPr>
          <p:cNvSpPr/>
          <p:nvPr/>
        </p:nvSpPr>
        <p:spPr>
          <a:xfrm>
            <a:off x="2381119" y="388315"/>
            <a:ext cx="5296162" cy="2080565"/>
          </a:xfrm>
          <a:prstGeom prst="downArrowCallout">
            <a:avLst>
              <a:gd name="adj1" fmla="val 25000"/>
              <a:gd name="adj2" fmla="val 24999"/>
              <a:gd name="adj3" fmla="val 25000"/>
              <a:gd name="adj4" fmla="val 64977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sz="9600" b="1" i="1" dirty="0"/>
              <a:t>&lt;html&gt; 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983B3CD4-4EB6-4890-B81B-67867EFA612D}"/>
              </a:ext>
            </a:extLst>
          </p:cNvPr>
          <p:cNvSpPr/>
          <p:nvPr/>
        </p:nvSpPr>
        <p:spPr>
          <a:xfrm>
            <a:off x="811530" y="2492034"/>
            <a:ext cx="8435340" cy="3977651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/>
              <a:t>The root element that wraps the entire HTML document.</a:t>
            </a:r>
          </a:p>
        </p:txBody>
      </p:sp>
    </p:spTree>
    <p:extLst>
      <p:ext uri="{BB962C8B-B14F-4D97-AF65-F5344CB8AC3E}">
        <p14:creationId xmlns:p14="http://schemas.microsoft.com/office/powerpoint/2010/main" val="1588242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BAFE0B2B-E484-40AD-AD33-0DA5899B2361}"/>
              </a:ext>
            </a:extLst>
          </p:cNvPr>
          <p:cNvSpPr/>
          <p:nvPr/>
        </p:nvSpPr>
        <p:spPr>
          <a:xfrm>
            <a:off x="1943099" y="255500"/>
            <a:ext cx="6057899" cy="219456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i="1" dirty="0"/>
              <a:t>&lt;head&gt;</a:t>
            </a:r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3CB3CE37-8C96-4CDE-BC4F-C801DB70E76A}"/>
              </a:ext>
            </a:extLst>
          </p:cNvPr>
          <p:cNvSpPr/>
          <p:nvPr/>
        </p:nvSpPr>
        <p:spPr>
          <a:xfrm>
            <a:off x="1314449" y="2628899"/>
            <a:ext cx="7726680" cy="2876321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Contains metadata, like the title, links to stylesheets</a:t>
            </a:r>
            <a:r>
              <a:rPr lang="en-US" sz="7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041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55FF580-2EB7-4612-9BA2-E7E3D93F4361}"/>
              </a:ext>
            </a:extLst>
          </p:cNvPr>
          <p:cNvSpPr/>
          <p:nvPr/>
        </p:nvSpPr>
        <p:spPr>
          <a:xfrm>
            <a:off x="3359650" y="184934"/>
            <a:ext cx="3931920" cy="13705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i="1" dirty="0"/>
              <a:t>&lt;title&gt;</a:t>
            </a:r>
          </a:p>
        </p:txBody>
      </p:sp>
      <p:sp>
        <p:nvSpPr>
          <p:cNvPr id="5" name="Flowchart: Preparation 4">
            <a:extLst>
              <a:ext uri="{FF2B5EF4-FFF2-40B4-BE49-F238E27FC236}">
                <a16:creationId xmlns:a16="http://schemas.microsoft.com/office/drawing/2014/main" id="{39FB3B10-4AD0-477E-BC6C-16DC51E93AE7}"/>
              </a:ext>
            </a:extLst>
          </p:cNvPr>
          <p:cNvSpPr/>
          <p:nvPr/>
        </p:nvSpPr>
        <p:spPr>
          <a:xfrm>
            <a:off x="1842670" y="2743200"/>
            <a:ext cx="6965879" cy="3642190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Contains all the visible content of the page.</a:t>
            </a:r>
          </a:p>
        </p:txBody>
      </p:sp>
    </p:spTree>
    <p:extLst>
      <p:ext uri="{BB962C8B-B14F-4D97-AF65-F5344CB8AC3E}">
        <p14:creationId xmlns:p14="http://schemas.microsoft.com/office/powerpoint/2010/main" val="404638774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Magnetic Disk 2">
            <a:extLst>
              <a:ext uri="{FF2B5EF4-FFF2-40B4-BE49-F238E27FC236}">
                <a16:creationId xmlns:a16="http://schemas.microsoft.com/office/drawing/2014/main" id="{7647F774-7F87-46ED-B81D-14D1AC840AC0}"/>
              </a:ext>
            </a:extLst>
          </p:cNvPr>
          <p:cNvSpPr/>
          <p:nvPr/>
        </p:nvSpPr>
        <p:spPr>
          <a:xfrm>
            <a:off x="736598" y="342898"/>
            <a:ext cx="2578101" cy="189230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lowchart: Direct Access Storage 3">
            <a:extLst>
              <a:ext uri="{FF2B5EF4-FFF2-40B4-BE49-F238E27FC236}">
                <a16:creationId xmlns:a16="http://schemas.microsoft.com/office/drawing/2014/main" id="{B771D1F6-25E1-40C5-BEEB-7115657631A0}"/>
              </a:ext>
            </a:extLst>
          </p:cNvPr>
          <p:cNvSpPr/>
          <p:nvPr/>
        </p:nvSpPr>
        <p:spPr>
          <a:xfrm>
            <a:off x="2882898" y="2235200"/>
            <a:ext cx="5588001" cy="4279902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Contains all the visible content of the page.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0B1511D4-CCF3-4BB9-B85A-2B5FB60364F5}"/>
              </a:ext>
            </a:extLst>
          </p:cNvPr>
          <p:cNvSpPr/>
          <p:nvPr/>
        </p:nvSpPr>
        <p:spPr>
          <a:xfrm>
            <a:off x="736598" y="126998"/>
            <a:ext cx="2578101" cy="189230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 &lt;body&gt; </a:t>
            </a:r>
          </a:p>
        </p:txBody>
      </p:sp>
    </p:spTree>
    <p:extLst>
      <p:ext uri="{BB962C8B-B14F-4D97-AF65-F5344CB8AC3E}">
        <p14:creationId xmlns:p14="http://schemas.microsoft.com/office/powerpoint/2010/main" val="102879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98741CBE-5B5F-429B-937F-E205AE68EE54}"/>
              </a:ext>
            </a:extLst>
          </p:cNvPr>
          <p:cNvSpPr/>
          <p:nvPr/>
        </p:nvSpPr>
        <p:spPr>
          <a:xfrm>
            <a:off x="813513" y="1263718"/>
            <a:ext cx="2968204" cy="450008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/>
              <a:t>&lt;h1&gt; to &lt;h6&gt;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C3D164D-5490-4F1D-B00E-54540F6C7089}"/>
              </a:ext>
            </a:extLst>
          </p:cNvPr>
          <p:cNvSpPr/>
          <p:nvPr/>
        </p:nvSpPr>
        <p:spPr>
          <a:xfrm>
            <a:off x="3298003" y="1263718"/>
            <a:ext cx="6035040" cy="448056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Heading tags, with &lt;h1&gt; being the largest and &lt;h6&gt; the smallest.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480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rt 1">
            <a:extLst>
              <a:ext uri="{FF2B5EF4-FFF2-40B4-BE49-F238E27FC236}">
                <a16:creationId xmlns:a16="http://schemas.microsoft.com/office/drawing/2014/main" id="{56744484-E3F9-4ACE-BE3F-DF93DE5A6EFD}"/>
              </a:ext>
            </a:extLst>
          </p:cNvPr>
          <p:cNvSpPr/>
          <p:nvPr/>
        </p:nvSpPr>
        <p:spPr>
          <a:xfrm>
            <a:off x="1238250" y="2057400"/>
            <a:ext cx="7620000" cy="45720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/>
              <a:t>Defines a paragraph of text.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78255624-5CCF-4DDB-8F17-F8A7BB63D5D9}"/>
              </a:ext>
            </a:extLst>
          </p:cNvPr>
          <p:cNvSpPr/>
          <p:nvPr/>
        </p:nvSpPr>
        <p:spPr>
          <a:xfrm>
            <a:off x="3581400" y="228600"/>
            <a:ext cx="2933700" cy="194309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i="1" dirty="0"/>
              <a:t>&lt;p&gt;</a:t>
            </a:r>
          </a:p>
        </p:txBody>
      </p:sp>
    </p:spTree>
    <p:extLst>
      <p:ext uri="{BB962C8B-B14F-4D97-AF65-F5344CB8AC3E}">
        <p14:creationId xmlns:p14="http://schemas.microsoft.com/office/powerpoint/2010/main" val="92712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B3F2E2DE-9AA8-42C5-89E0-761B97F8A474}"/>
              </a:ext>
            </a:extLst>
          </p:cNvPr>
          <p:cNvSpPr/>
          <p:nvPr/>
        </p:nvSpPr>
        <p:spPr>
          <a:xfrm>
            <a:off x="2876551" y="393698"/>
            <a:ext cx="4673600" cy="23876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 </a:t>
            </a:r>
            <a:r>
              <a:rPr lang="en-US" sz="8800" b="1" i="1" dirty="0"/>
              <a:t>&lt;a&gt; </a:t>
            </a:r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46A99A9A-A3E3-4656-A86E-48E80DB263E4}"/>
              </a:ext>
            </a:extLst>
          </p:cNvPr>
          <p:cNvSpPr/>
          <p:nvPr/>
        </p:nvSpPr>
        <p:spPr>
          <a:xfrm rot="10800000" flipH="1" flipV="1">
            <a:off x="1022348" y="2476501"/>
            <a:ext cx="8293101" cy="3987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Creates a hyperlink to another page or resource.</a:t>
            </a:r>
          </a:p>
        </p:txBody>
      </p:sp>
    </p:spTree>
    <p:extLst>
      <p:ext uri="{BB962C8B-B14F-4D97-AF65-F5344CB8AC3E}">
        <p14:creationId xmlns:p14="http://schemas.microsoft.com/office/powerpoint/2010/main" val="511876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9C430C8B-E106-4E60-A8C9-5CFFEC0A131E}"/>
              </a:ext>
            </a:extLst>
          </p:cNvPr>
          <p:cNvSpPr/>
          <p:nvPr/>
        </p:nvSpPr>
        <p:spPr>
          <a:xfrm>
            <a:off x="1320800" y="2070100"/>
            <a:ext cx="7137400" cy="4343400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Embeds an image into the page.</a:t>
            </a:r>
          </a:p>
        </p:txBody>
      </p:sp>
      <p:sp>
        <p:nvSpPr>
          <p:cNvPr id="5" name="Flowchart: Multidocument 4">
            <a:extLst>
              <a:ext uri="{FF2B5EF4-FFF2-40B4-BE49-F238E27FC236}">
                <a16:creationId xmlns:a16="http://schemas.microsoft.com/office/drawing/2014/main" id="{81095814-B632-4021-813C-C6D30D07C865}"/>
              </a:ext>
            </a:extLst>
          </p:cNvPr>
          <p:cNvSpPr/>
          <p:nvPr/>
        </p:nvSpPr>
        <p:spPr>
          <a:xfrm>
            <a:off x="3035300" y="355600"/>
            <a:ext cx="2844800" cy="1361439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i="1" dirty="0"/>
              <a:t>&lt;img&gt;</a:t>
            </a:r>
          </a:p>
        </p:txBody>
      </p:sp>
    </p:spTree>
    <p:extLst>
      <p:ext uri="{BB962C8B-B14F-4D97-AF65-F5344CB8AC3E}">
        <p14:creationId xmlns:p14="http://schemas.microsoft.com/office/powerpoint/2010/main" val="2357427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2990BA-78B9-45AB-BA5C-0CDF610790AF}"/>
              </a:ext>
            </a:extLst>
          </p:cNvPr>
          <p:cNvSpPr/>
          <p:nvPr/>
        </p:nvSpPr>
        <p:spPr>
          <a:xfrm>
            <a:off x="3606800" y="520700"/>
            <a:ext cx="3820159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/>
              <a:t>&lt;ul&gt; and &lt;ol&gt;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C6D6B9-1B35-4269-BB0D-06D2980B4E8D}"/>
              </a:ext>
            </a:extLst>
          </p:cNvPr>
          <p:cNvSpPr/>
          <p:nvPr/>
        </p:nvSpPr>
        <p:spPr>
          <a:xfrm rot="571728">
            <a:off x="2119629" y="1885735"/>
            <a:ext cx="6338571" cy="41021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/>
              <a:t>Create unordered (bulleted) or ordered (numbered) lists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551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onal Stripe 3">
            <a:extLst>
              <a:ext uri="{FF2B5EF4-FFF2-40B4-BE49-F238E27FC236}">
                <a16:creationId xmlns:a16="http://schemas.microsoft.com/office/drawing/2014/main" id="{12BEAB7A-298E-4E1D-9668-2CDA55382515}"/>
              </a:ext>
            </a:extLst>
          </p:cNvPr>
          <p:cNvSpPr/>
          <p:nvPr/>
        </p:nvSpPr>
        <p:spPr>
          <a:xfrm rot="19851979">
            <a:off x="990599" y="1524000"/>
            <a:ext cx="4025900" cy="1841500"/>
          </a:xfrm>
          <a:prstGeom prst="diagStripe">
            <a:avLst>
              <a:gd name="adj" fmla="val 619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&lt;div&gt;</a:t>
            </a:r>
            <a:endParaRPr lang="en-US" sz="2800" b="1" i="1" dirty="0">
              <a:solidFill>
                <a:schemeClr val="tx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66583C4-9A92-4365-8A61-DDB800EE21B0}"/>
              </a:ext>
            </a:extLst>
          </p:cNvPr>
          <p:cNvSpPr/>
          <p:nvPr/>
        </p:nvSpPr>
        <p:spPr>
          <a:xfrm>
            <a:off x="1917700" y="871049"/>
            <a:ext cx="6955660" cy="511590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 generic container used to group content and apply styles.</a:t>
            </a:r>
          </a:p>
        </p:txBody>
      </p:sp>
    </p:spTree>
    <p:extLst>
      <p:ext uri="{BB962C8B-B14F-4D97-AF65-F5344CB8AC3E}">
        <p14:creationId xmlns:p14="http://schemas.microsoft.com/office/powerpoint/2010/main" val="7191791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1071</TotalTime>
  <Words>168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 Light</vt:lpstr>
      <vt:lpstr>Trebuchet MS</vt:lpstr>
      <vt:lpstr>Wingdings 3</vt:lpstr>
      <vt:lpstr>Facet</vt:lpstr>
      <vt:lpstr>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Munang</dc:creator>
  <cp:lastModifiedBy>Munang</cp:lastModifiedBy>
  <cp:revision>23</cp:revision>
  <dcterms:created xsi:type="dcterms:W3CDTF">2026-03-03T09:33:53Z</dcterms:created>
  <dcterms:modified xsi:type="dcterms:W3CDTF">2026-03-04T19:59:21Z</dcterms:modified>
</cp:coreProperties>
</file>